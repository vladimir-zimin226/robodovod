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2" r:id="rId2"/>
    <p:sldId id="282" r:id="rId3"/>
    <p:sldId id="264" r:id="rId4"/>
    <p:sldId id="283" r:id="rId5"/>
    <p:sldId id="284" r:id="rId6"/>
    <p:sldId id="285" r:id="rId12"/>
    <p:sldId id="286" r:id="rId13"/>
    <p:sldId id="287" r:id="rId14"/>
    <p:sldId id="288" r:id="rId15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778" y="7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29.09.2026</a:t>
            </a:fld>
            <a:endParaRPr lang="ru-RU"/>
          </a:p>
        </p:txBody>
      </p:sp>
      <p:sp>
        <p:nvSpPr>
          <p:cNvPr id="1008376219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29.09.2026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29.09.2026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29.09.2026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29.09.2026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29.09.2026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29.09.2026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29.09.2026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29.09.2026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29.09.2026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29.09.2026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29.09.2026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29.09.2026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29.09.2026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29.09.2026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29.09.2026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29.09.2026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29.09.2026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29.09.2026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29.09.2026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endParaRPr dirty="0"/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endParaRPr/>
          </a:p>
        </p:txBody>
      </p:sp>
      <p:sp>
        <p:nvSpPr>
          <p:cNvPr id="1636791009" name="Rounded Rectangle 1636791008"/>
          <p:cNvSpPr/>
          <p:nvPr/>
        </p:nvSpPr>
        <p:spPr>
          <a:xfrm>
            <a:off x="502920" y="1847088"/>
            <a:ext cx="8229600" cy="3429000"/>
          </a:xfrm>
          <a:prstGeom prst="round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6791010" name="TextBox 1636791009"/>
          <p:cNvSpPr txBox="1"/>
          <p:nvPr/>
        </p:nvSpPr>
        <p:spPr>
          <a:xfrm>
            <a:off x="786384" y="2185416"/>
            <a:ext cx="7452360" cy="75895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700"/>
              </a:spcAft>
            </a:pPr>
            <a:r>
              <a:rPr sz="4300" b="1">
                <a:solidFill>
                  <a:srgbClr val="FFFFFF"/>
                </a:solidFill>
                <a:latin typeface="Montserrat"/>
              </a:rPr>
              <a:t>РОБОДОВОД</a:t>
            </a:r>
          </a:p>
        </p:txBody>
      </p:sp>
      <p:sp>
        <p:nvSpPr>
          <p:cNvPr id="1636791011" name="TextBox 1636791010"/>
          <p:cNvSpPr txBox="1"/>
          <p:nvPr/>
        </p:nvSpPr>
        <p:spPr>
          <a:xfrm>
            <a:off x="795528" y="3072384"/>
            <a:ext cx="7452360" cy="5029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700"/>
              </a:spcAft>
            </a:pPr>
            <a:r>
              <a:rPr sz="2400" b="1" dirty="0" err="1">
                <a:solidFill>
                  <a:srgbClr val="FFFFFF"/>
                </a:solidFill>
                <a:latin typeface="Montserrat"/>
              </a:rPr>
              <a:t>Понять</a:t>
            </a:r>
            <a:r>
              <a:rPr sz="2400" b="1" dirty="0">
                <a:solidFill>
                  <a:srgbClr val="FFFFFF"/>
                </a:solidFill>
                <a:latin typeface="Montserrat"/>
              </a:rPr>
              <a:t>, </a:t>
            </a:r>
            <a:r>
              <a:rPr sz="2400" b="1" dirty="0" err="1">
                <a:solidFill>
                  <a:srgbClr val="FFFFFF"/>
                </a:solidFill>
                <a:latin typeface="Montserrat"/>
              </a:rPr>
              <a:t>где</a:t>
            </a:r>
            <a:r>
              <a:rPr sz="24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Montserrat"/>
              </a:rPr>
              <a:t>роботизация</a:t>
            </a:r>
            <a:r>
              <a:rPr sz="24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Montserrat"/>
              </a:rPr>
              <a:t>выгодна</a:t>
            </a:r>
            <a:endParaRPr sz="2400" b="1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636791013" name="TextBox 1636791012"/>
          <p:cNvSpPr txBox="1"/>
          <p:nvPr/>
        </p:nvSpPr>
        <p:spPr>
          <a:xfrm>
            <a:off x="786384" y="6080760"/>
            <a:ext cx="10332720" cy="274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700"/>
              </a:spcAft>
            </a:pPr>
            <a:r>
              <a:rPr sz="1200" b="0" dirty="0">
                <a:solidFill>
                  <a:srgbClr val="FFFFFF"/>
                </a:solidFill>
                <a:latin typeface="Montserrat"/>
              </a:rPr>
              <a:t>ZMNCRAFT · </a:t>
            </a:r>
            <a:r>
              <a:rPr sz="1200" b="0" dirty="0" err="1">
                <a:solidFill>
                  <a:srgbClr val="FFFFFF"/>
                </a:solidFill>
                <a:latin typeface="Montserrat"/>
              </a:rPr>
              <a:t>Лидеры</a:t>
            </a:r>
            <a:r>
              <a:rPr sz="12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Montserrat"/>
              </a:rPr>
              <a:t>цифровой</a:t>
            </a:r>
            <a:r>
              <a:rPr sz="12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Montserrat"/>
              </a:rPr>
              <a:t>трансформации</a:t>
            </a:r>
            <a:r>
              <a:rPr sz="1200" b="0" dirty="0">
                <a:solidFill>
                  <a:srgbClr val="FFFFFF"/>
                </a:solidFill>
                <a:latin typeface="Montserrat"/>
              </a:rPr>
              <a:t> ·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7CB39F-AD4D-720A-FC6C-B0C75A2C9B04}"/>
              </a:ext>
            </a:extLst>
          </p:cNvPr>
          <p:cNvSpPr txBox="1"/>
          <p:nvPr/>
        </p:nvSpPr>
        <p:spPr bwMode="auto">
          <a:xfrm>
            <a:off x="795528" y="3749040"/>
            <a:ext cx="7452360" cy="94179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ru-RU" sz="2000" dirty="0">
                <a:solidFill>
                  <a:schemeClr val="bg1"/>
                </a:solidFill>
              </a:rPr>
              <a:t>Задача № 1: «Платформа подбора роботизированных решений с расчётом экономического эффекта и визуализацией работы роботов на объекте»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1636791014" name="Unified page number"/>
          <p:cNvSpPr txBox="1"/>
          <p:nvPr/>
        </p:nvSpPr>
        <p:spPr>
          <a:xfrm>
            <a:off x="10890504" y="6473952"/>
            <a:ext cx="960120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Montserrat"/>
              </a:rPr>
              <a:t>01 / 18</a:t>
            </a:r>
          </a:p>
        </p:txBody>
      </p:sp>
      <p:pic>
        <p:nvPicPr>
          <p:cNvPr id="1636791015" name="ZMNCRAFT vector logo">
            <a:extLst>
              <a:ext uri="{FF2B5EF4-FFF2-40B4-BE49-F238E27FC236}">
                <a16:creationId xmlns:a16="http://schemas.microsoft.com/office/drawing/2014/main" id="{A12F152B-811B-4E1C-0B94-0CD0CBC147D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632" y="329184"/>
            <a:ext cx="507492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13979F-414A-8674-D799-1DB5CF557BA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6" b="25356"/>
          <a:stretch>
            <a:fillRect/>
          </a:stretch>
        </p:blipFill>
        <p:spPr bwMode="auto">
          <a:xfrm>
            <a:off x="-1" y="0"/>
            <a:ext cx="6456363" cy="3299404"/>
          </a:xfrm>
          <a:prstGeom prst="rect">
            <a:avLst/>
          </a:prstGeom>
        </p:spPr>
      </p:pic>
      <p:sp>
        <p:nvSpPr>
          <p:cNvPr id="1143600250" name="Текст 8"/>
          <p:cNvSpPr txBox="1"/>
          <p:nvPr/>
        </p:nvSpPr>
        <p:spPr bwMode="auto">
          <a:xfrm>
            <a:off x="6819904" y="2331720"/>
            <a:ext cx="4945564" cy="356616"/>
          </a:xfrm>
          <a:prstGeom prst="rect">
            <a:avLst/>
          </a:prstGeom>
          <a:ln>
            <a:noFill/>
          </a:ln>
        </p:spPr>
        <p:txBody>
          <a:bodyPr vert="horz" wrap="square" lIns="91440" tIns="18288" rIns="91440" bIns="18288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ontserrat"/>
              </a:rPr>
              <a:t>Краткое описание решения</a:t>
            </a:r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681728"/>
            <a:ext cx="4945565" cy="1371600"/>
          </a:xfrm>
          <a:prstGeom prst="rect">
            <a:avLst/>
          </a:prstGeom>
          <a:ln>
            <a:noFill/>
          </a:ln>
        </p:spPr>
        <p:txBody>
          <a:bodyPr vert="horz" wrap="square" lIns="91440" tIns="18288" rIns="91440" bIns="18288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600" b="0" dirty="0" err="1">
                <a:solidFill>
                  <a:srgbClr val="FFFFFF"/>
                </a:solidFill>
                <a:latin typeface="Montserrat"/>
              </a:rPr>
              <a:t>Решение упаковывает сложный и кропотливый расчетный процесс в удобную и понятную форму, помогая на каждом шагу и представляя 2D и 3D возможность оценить роботизацию со стороны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/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/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/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/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/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/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/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/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/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/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/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/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/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/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/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/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/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/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/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/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/>
            </a:r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wrap="square" lIns="91440" tIns="18288" rIns="91440" bIns="18288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500" b="1" dirty="0">
                <a:solidFill>
                  <a:srgbClr val="1C1D22"/>
                </a:solidFill>
                <a:latin typeface="Montserrat"/>
              </a:rPr>
              <a:t>Капитан: Зимин Владимир Андреевич</a:t>
            </a:r>
            <a:r>
              <a:rPr lang="ru-RU" sz="1500" dirty="0">
                <a:solidFill>
                  <a:srgbClr val="1C1D22"/>
                </a:solidFill>
                <a:latin typeface="Montserrat"/>
              </a:rPr>
              <a:t>, </a:t>
            </a:r>
            <a:r>
              <a:rPr lang="en-US" sz="1500" dirty="0">
                <a:solidFill>
                  <a:srgbClr val="1C1D22"/>
                </a:solidFill>
                <a:latin typeface="Montserrat"/>
              </a:rPr>
              <a:t>AI-product / full-stack engineer</a:t>
            </a:r>
            <a:endParaRPr dirty="0"/>
          </a:p>
          <a:p>
            <a:pPr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500" b="1" dirty="0">
                <a:solidFill>
                  <a:srgbClr val="1C1D22"/>
                </a:solidFill>
                <a:latin typeface="Montserrat"/>
              </a:rPr>
              <a:t>Кол-во участников: </a:t>
            </a:r>
            <a:r>
              <a:rPr lang="en-US" sz="1500" b="1" dirty="0">
                <a:solidFill>
                  <a:srgbClr val="1C1D22"/>
                </a:solidFill>
                <a:latin typeface="Montserrat"/>
              </a:rPr>
              <a:t>2</a:t>
            </a:r>
            <a:r>
              <a:rPr lang="ru-RU" sz="1500" dirty="0">
                <a:solidFill>
                  <a:srgbClr val="1C1D22"/>
                </a:solidFill>
                <a:latin typeface="Montserrat"/>
              </a:rPr>
              <a:t> человека</a:t>
            </a:r>
            <a:endParaRPr dirty="0"/>
          </a:p>
          <a:p>
            <a:pPr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500" b="1" dirty="0">
                <a:solidFill>
                  <a:srgbClr val="1C1D22"/>
                </a:solidFill>
                <a:latin typeface="Montserrat"/>
              </a:rPr>
              <a:t>Краткое описание: </a:t>
            </a:r>
            <a:endParaRPr dirty="0"/>
          </a:p>
          <a:p>
            <a:pPr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sz="1500" i="1" dirty="0">
                <a:solidFill>
                  <a:srgbClr val="1C1D22"/>
                </a:solidFill>
                <a:latin typeface="Montserrat"/>
              </a:rPr>
              <a:t>Команда целеустремленных профессионалов, которая родилась благодаря более чем 15-ти летней дружбе </a:t>
            </a:r>
            <a:endParaRPr dirty="0"/>
          </a:p>
          <a:p>
            <a:pPr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500" i="1" dirty="0">
                <a:solidFill>
                  <a:srgbClr val="1C1D22"/>
                </a:solidFill>
                <a:latin typeface="Montserrat"/>
              </a:rPr>
              <a:t>ZMNCRAFT/</a:t>
            </a:r>
            <a:r>
              <a:rPr lang="ru-RU" sz="1500" i="1" dirty="0">
                <a:solidFill>
                  <a:srgbClr val="1C1D22"/>
                </a:solidFill>
                <a:latin typeface="Montserrat"/>
              </a:rPr>
              <a:t>ИТМО</a:t>
            </a:r>
            <a:r>
              <a:rPr lang="en-US" sz="1500" i="1" dirty="0">
                <a:solidFill>
                  <a:srgbClr val="1C1D22"/>
                </a:solidFill>
                <a:latin typeface="Montserrat"/>
              </a:rPr>
              <a:t>/</a:t>
            </a:r>
            <a:r>
              <a:rPr lang="ru-RU" sz="1500" i="1" dirty="0">
                <a:solidFill>
                  <a:srgbClr val="1C1D22"/>
                </a:solidFill>
                <a:latin typeface="Montserrat"/>
              </a:rPr>
              <a:t>СПЕЦИАЛЬНЫЕ МАТЕРИАЛЫ</a:t>
            </a:r>
            <a:endParaRPr dirty="0"/>
          </a:p>
          <a:p>
            <a:pPr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500" b="1" dirty="0">
                <a:solidFill>
                  <a:srgbClr val="1C1D22"/>
                </a:solidFill>
                <a:latin typeface="Montserrat"/>
              </a:rPr>
              <a:t>Город и регион: Сахалин и Хабаровск</a:t>
            </a:r>
            <a:endParaRPr dirty="0"/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wrap="square" lIns="91440" tIns="18288" rIns="91440" bIns="18288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spcAft>
                <a:spcPts val="0"/>
              </a:spcAft>
              <a:buNone/>
              <a:defRPr/>
            </a:pPr>
            <a:r>
              <a:rPr lang="ru-RU" sz="1700" b="1" dirty="0">
                <a:solidFill>
                  <a:srgbClr val="310F53"/>
                </a:solidFill>
                <a:latin typeface="Montserrat"/>
              </a:rPr>
              <a:t>О команде</a:t>
            </a:r>
            <a:endParaRPr dirty="0"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2400" dirty="0">
                <a:solidFill>
                  <a:schemeClr val="bg1"/>
                </a:solidFill>
                <a:latin typeface="Montserrat"/>
              </a:rPr>
              <a:t>КОМАНДА «</a:t>
            </a:r>
            <a:r>
              <a:rPr lang="en-US" sz="2400" dirty="0">
                <a:solidFill>
                  <a:schemeClr val="bg1"/>
                </a:solidFill>
                <a:latin typeface="Montserrat"/>
              </a:rPr>
              <a:t>ZMNCRAFT</a:t>
            </a:r>
            <a:r>
              <a:rPr lang="ru-RU" sz="2400" dirty="0">
                <a:solidFill>
                  <a:schemeClr val="bg1"/>
                </a:solidFill>
                <a:latin typeface="Montserrat"/>
              </a:rPr>
              <a:t>»</a:t>
            </a: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297680"/>
            <a:ext cx="4945564" cy="356616"/>
          </a:xfrm>
          <a:prstGeom prst="rect">
            <a:avLst/>
          </a:prstGeom>
          <a:ln>
            <a:noFill/>
          </a:ln>
        </p:spPr>
        <p:txBody>
          <a:bodyPr vert="horz" wrap="square" lIns="91440" tIns="18288" rIns="91440" bIns="18288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ontserrat"/>
              </a:rPr>
              <a:t>Уникальность решения</a:t>
            </a:r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791325" y="2706624"/>
            <a:ext cx="4945565" cy="1417320"/>
          </a:xfrm>
          <a:prstGeom prst="rect">
            <a:avLst/>
          </a:prstGeom>
          <a:ln>
            <a:noFill/>
          </a:ln>
        </p:spPr>
        <p:txBody>
          <a:bodyPr vert="horz" wrap="square" lIns="91440" tIns="18288" rIns="91440" bIns="18288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600" b="0" dirty="0" err="1">
                <a:solidFill>
                  <a:srgbClr val="FFFFFF"/>
                </a:solidFill>
                <a:latin typeface="Montserrat"/>
              </a:rPr>
              <a:t>Веб-платформа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>помогает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>руководителю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>объекта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>оценить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>, </a:t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>где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>роботизация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>применима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> и </a:t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>каков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>её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>экономический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>потенциал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108767592" name="Unified page number"/>
          <p:cNvSpPr txBox="1"/>
          <p:nvPr/>
        </p:nvSpPr>
        <p:spPr>
          <a:xfrm>
            <a:off x="10890504" y="6473952"/>
            <a:ext cx="960120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Montserrat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endParaRPr/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717745144" name="Скругленный прямоугольник 58"/>
          <p:cNvSpPr/>
          <p:nvPr/>
        </p:nvSpPr>
        <p:spPr bwMode="auto"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endParaRPr/>
          </a:p>
        </p:txBody>
      </p:sp>
      <p:sp>
        <p:nvSpPr>
          <p:cNvPr id="767261468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789313918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651037677" name="Скругленный прямоугольник 61"/>
          <p:cNvSpPr/>
          <p:nvPr/>
        </p:nvSpPr>
        <p:spPr bwMode="auto">
          <a:xfrm>
            <a:off x="726203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endParaRPr/>
          </a:p>
        </p:txBody>
      </p:sp>
      <p:sp>
        <p:nvSpPr>
          <p:cNvPr id="499875170" name="Текст 8"/>
          <p:cNvSpPr txBox="1"/>
          <p:nvPr/>
        </p:nvSpPr>
        <p:spPr bwMode="auto"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054387886" name="Текст 8"/>
          <p:cNvSpPr txBox="1"/>
          <p:nvPr/>
        </p:nvSpPr>
        <p:spPr bwMode="auto"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106280066" name="Текст 8"/>
          <p:cNvSpPr txBox="1"/>
          <p:nvPr/>
        </p:nvSpPr>
        <p:spPr bwMode="auto"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456275104" name="Текст 8"/>
          <p:cNvSpPr txBox="1"/>
          <p:nvPr/>
        </p:nvSpPr>
        <p:spPr bwMode="auto"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endParaRPr/>
          </a:p>
        </p:txBody>
      </p:sp>
      <p:sp>
        <p:nvSpPr>
          <p:cNvPr id="1172799835" name="Рисунок 1"/>
          <p:cNvSpPr>
            <a:spLocks noGrp="1"/>
          </p:cNvSpPr>
          <p:nvPr>
            <p:ph type="pic" sz="quarter" idx="4294967295"/>
          </p:nvPr>
        </p:nvSpPr>
        <p:spPr bwMode="auto">
          <a:xfrm>
            <a:off x="581397" y="1816054"/>
            <a:ext cx="1722566" cy="1552901"/>
          </a:xfrm>
        </p:spPr>
        <p:txBody>
          <a:bodyPr/>
          <a:lstStyle/>
          <a:p>
            <a:endParaRPr/>
          </a:p>
        </p:txBody>
      </p:sp>
      <p:sp>
        <p:nvSpPr>
          <p:cNvPr id="288949743" name="Рисунок 2"/>
          <p:cNvSpPr>
            <a:spLocks noGrp="1"/>
          </p:cNvSpPr>
          <p:nvPr>
            <p:ph type="pic" sz="quarter" idx="4294967295"/>
          </p:nvPr>
        </p:nvSpPr>
        <p:spPr bwMode="auto">
          <a:xfrm>
            <a:off x="2886467" y="1826554"/>
            <a:ext cx="1722566" cy="1542401"/>
          </a:xfrm>
        </p:spPr>
        <p:txBody>
          <a:bodyPr/>
          <a:lstStyle/>
          <a:p>
            <a:endParaRPr/>
          </a:p>
        </p:txBody>
      </p:sp>
      <p:sp>
        <p:nvSpPr>
          <p:cNvPr id="368022300" name="Рисунок 3"/>
          <p:cNvSpPr>
            <a:spLocks noGrp="1"/>
          </p:cNvSpPr>
          <p:nvPr>
            <p:ph type="pic" sz="quarter" idx="4294967295"/>
          </p:nvPr>
        </p:nvSpPr>
        <p:spPr bwMode="auto">
          <a:xfrm>
            <a:off x="5191784" y="1809238"/>
            <a:ext cx="1722567" cy="1559717"/>
          </a:xfrm>
        </p:spPr>
        <p:txBody>
          <a:bodyPr/>
          <a:lstStyle/>
          <a:p>
            <a:endParaRPr/>
          </a:p>
        </p:txBody>
      </p:sp>
      <p:sp>
        <p:nvSpPr>
          <p:cNvPr id="213007835" name="Рисунок 4"/>
          <p:cNvSpPr>
            <a:spLocks noGrp="1"/>
          </p:cNvSpPr>
          <p:nvPr>
            <p:ph type="pic" sz="quarter" idx="4294967295"/>
          </p:nvPr>
        </p:nvSpPr>
        <p:spPr bwMode="auto">
          <a:xfrm>
            <a:off x="7520208" y="1809238"/>
            <a:ext cx="1722567" cy="1559717"/>
          </a:xfrm>
        </p:spPr>
        <p:txBody>
          <a:bodyPr/>
          <a:lstStyle/>
          <a:p>
            <a:endParaRPr/>
          </a:p>
        </p:txBody>
      </p:sp>
      <p:sp>
        <p:nvSpPr>
          <p:cNvPr id="1344225912" name="Рисунок 5"/>
          <p:cNvSpPr>
            <a:spLocks noGrp="1"/>
          </p:cNvSpPr>
          <p:nvPr>
            <p:ph type="pic" sz="quarter" idx="4294967295"/>
          </p:nvPr>
        </p:nvSpPr>
        <p:spPr bwMode="auto">
          <a:xfrm>
            <a:off x="9802422" y="1809238"/>
            <a:ext cx="1722566" cy="1559717"/>
          </a:xfrm>
        </p:spPr>
        <p:txBody>
          <a:bodyPr/>
          <a:lstStyle/>
          <a:p>
            <a:endParaRPr/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106280067" name="Rounded Rectangle 2106280066"/>
          <p:cNvSpPr/>
          <p:nvPr/>
        </p:nvSpPr>
        <p:spPr>
          <a:xfrm>
            <a:off x="310896" y="969264"/>
            <a:ext cx="11567160" cy="5468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6280068" name="TextBox 2106280067"/>
          <p:cNvSpPr txBox="1"/>
          <p:nvPr/>
        </p:nvSpPr>
        <p:spPr>
          <a:xfrm>
            <a:off x="658368" y="1188720"/>
            <a:ext cx="10789920" cy="5029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700"/>
              </a:spcAft>
            </a:pPr>
            <a:r>
              <a:rPr sz="2900" b="1">
                <a:solidFill>
                  <a:srgbClr val="310F53"/>
                </a:solidFill>
                <a:latin typeface="Montserrat"/>
              </a:rPr>
              <a:t>Команда ZMNCRAFT</a:t>
            </a:r>
          </a:p>
        </p:txBody>
      </p:sp>
      <p:sp>
        <p:nvSpPr>
          <p:cNvPr id="2106280069" name="Rectangle 2106280068"/>
          <p:cNvSpPr/>
          <p:nvPr/>
        </p:nvSpPr>
        <p:spPr>
          <a:xfrm>
            <a:off x="658368" y="1792224"/>
            <a:ext cx="1143000" cy="54864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6280070" name="TextBox 2106280069"/>
          <p:cNvSpPr txBox="1"/>
          <p:nvPr/>
        </p:nvSpPr>
        <p:spPr>
          <a:xfrm>
            <a:off x="667512" y="1901952"/>
            <a:ext cx="10789920" cy="3657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8A83D1"/>
                </a:solidFill>
                <a:latin typeface="Montserrat"/>
              </a:rPr>
              <a:t>Продуктовая архитектура и расчётная инженерия — вместе</a:t>
            </a:r>
          </a:p>
        </p:txBody>
      </p:sp>
      <p:sp>
        <p:nvSpPr>
          <p:cNvPr id="2106280071" name="TextBox 2106280070"/>
          <p:cNvSpPr txBox="1"/>
          <p:nvPr/>
        </p:nvSpPr>
        <p:spPr>
          <a:xfrm>
            <a:off x="658368" y="6062472"/>
            <a:ext cx="10789920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310F53"/>
                </a:solidFill>
                <a:latin typeface="Montserrat"/>
              </a:rPr>
              <a:t>ZMNCRAFT · РОБОДОВОД</a:t>
            </a:r>
          </a:p>
        </p:txBody>
      </p:sp>
      <p:sp>
        <p:nvSpPr>
          <p:cNvPr id="2106280072" name="Rounded Rectangle 2106280071"/>
          <p:cNvSpPr/>
          <p:nvPr/>
        </p:nvSpPr>
        <p:spPr>
          <a:xfrm>
            <a:off x="658368" y="2322576"/>
            <a:ext cx="5321808" cy="3502152"/>
          </a:xfrm>
          <a:prstGeom prst="roundRect">
            <a:avLst/>
          </a:prstGeom>
          <a:solidFill>
            <a:srgbClr val="FF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06280073" name="Picture 2106280072" descr="Вова.jpg"/>
          <p:cNvPicPr>
            <a:picLocks noChangeAspect="1"/>
          </p:cNvPicPr>
          <p:nvPr/>
        </p:nvPicPr>
        <p:blipFill>
          <a:blip r:embed="rId4"/>
          <a:srcRect t="1242" b="1242"/>
          <a:stretch>
            <a:fillRect/>
          </a:stretch>
        </p:blipFill>
        <p:spPr>
          <a:xfrm>
            <a:off x="822959" y="2496312"/>
            <a:ext cx="1947672" cy="2532888"/>
          </a:xfrm>
          <a:prstGeom prst="rect">
            <a:avLst/>
          </a:prstGeom>
        </p:spPr>
      </p:pic>
      <p:sp>
        <p:nvSpPr>
          <p:cNvPr id="2106280074" name="TextBox 2106280073"/>
          <p:cNvSpPr txBox="1"/>
          <p:nvPr/>
        </p:nvSpPr>
        <p:spPr>
          <a:xfrm>
            <a:off x="2935224" y="2542032"/>
            <a:ext cx="2816352" cy="5852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310F53"/>
                </a:solidFill>
                <a:latin typeface="Montserrat"/>
              </a:rPr>
              <a:t>Владимир Зимин</a:t>
            </a:r>
          </a:p>
        </p:txBody>
      </p:sp>
      <p:sp>
        <p:nvSpPr>
          <p:cNvPr id="2106280075" name="TextBox 2106280074"/>
          <p:cNvSpPr txBox="1"/>
          <p:nvPr/>
        </p:nvSpPr>
        <p:spPr>
          <a:xfrm>
            <a:off x="2935224" y="3200400"/>
            <a:ext cx="2807208" cy="6949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C1D22"/>
                </a:solidFill>
                <a:latin typeface="Montserrat"/>
              </a:rPr>
              <a:t>Капитан · AI-product / full-stack</a:t>
            </a:r>
          </a:p>
        </p:txBody>
      </p:sp>
      <p:sp>
        <p:nvSpPr>
          <p:cNvPr id="2106280076" name="TextBox 2106280075"/>
          <p:cNvSpPr txBox="1"/>
          <p:nvPr/>
        </p:nvSpPr>
        <p:spPr>
          <a:xfrm>
            <a:off x="2935224" y="4069080"/>
            <a:ext cx="2816352" cy="8412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C1D22"/>
                </a:solidFill>
                <a:latin typeface="Montserrat"/>
              </a:rPr>
              <a:t>Продуктовая логика и архитектура · магистрант ИТМО</a:t>
            </a:r>
          </a:p>
        </p:txBody>
      </p:sp>
      <p:sp>
        <p:nvSpPr>
          <p:cNvPr id="2106280077" name="TextBox 2106280076"/>
          <p:cNvSpPr txBox="1"/>
          <p:nvPr/>
        </p:nvSpPr>
        <p:spPr>
          <a:xfrm>
            <a:off x="877824" y="5294620"/>
            <a:ext cx="4754880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700"/>
              </a:spcAft>
            </a:pPr>
            <a:r>
              <a:rPr sz="1600" b="1" dirty="0">
                <a:solidFill>
                  <a:srgbClr val="310F53"/>
                </a:solidFill>
                <a:latin typeface="Montserrat"/>
              </a:rPr>
              <a:t>Telegram @vov</a:t>
            </a:r>
            <a:r>
              <a:rPr lang="en-US" sz="1600" b="1" dirty="0">
                <a:solidFill>
                  <a:srgbClr val="310F53"/>
                </a:solidFill>
                <a:latin typeface="Montserrat"/>
              </a:rPr>
              <a:t>a</a:t>
            </a:r>
            <a:r>
              <a:rPr sz="1600" b="1" dirty="0">
                <a:solidFill>
                  <a:srgbClr val="310F53"/>
                </a:solidFill>
                <a:latin typeface="Montserrat"/>
              </a:rPr>
              <a:t>zmncraft</a:t>
            </a:r>
          </a:p>
        </p:txBody>
      </p:sp>
      <p:sp>
        <p:nvSpPr>
          <p:cNvPr id="2106280078" name="Rounded Rectangle 2106280077"/>
          <p:cNvSpPr/>
          <p:nvPr/>
        </p:nvSpPr>
        <p:spPr>
          <a:xfrm>
            <a:off x="6181344" y="2322576"/>
            <a:ext cx="5321808" cy="3502152"/>
          </a:xfrm>
          <a:prstGeom prst="roundRect">
            <a:avLst/>
          </a:prstGeom>
          <a:solidFill>
            <a:srgbClr val="FF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06280079" name="Picture 2106280078" descr="Женя.jpg"/>
          <p:cNvPicPr>
            <a:picLocks noChangeAspect="1"/>
          </p:cNvPicPr>
          <p:nvPr/>
        </p:nvPicPr>
        <p:blipFill>
          <a:blip r:embed="rId5"/>
          <a:srcRect l="24498" r="24498"/>
          <a:stretch>
            <a:fillRect/>
          </a:stretch>
        </p:blipFill>
        <p:spPr>
          <a:xfrm>
            <a:off x="6345936" y="2496312"/>
            <a:ext cx="1947672" cy="2532888"/>
          </a:xfrm>
          <a:prstGeom prst="rect">
            <a:avLst/>
          </a:prstGeom>
        </p:spPr>
      </p:pic>
      <p:sp>
        <p:nvSpPr>
          <p:cNvPr id="2106280080" name="TextBox 2106280079"/>
          <p:cNvSpPr txBox="1"/>
          <p:nvPr/>
        </p:nvSpPr>
        <p:spPr>
          <a:xfrm>
            <a:off x="8458200" y="2542032"/>
            <a:ext cx="2816352" cy="5852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310F53"/>
                </a:solidFill>
                <a:latin typeface="Montserrat"/>
              </a:rPr>
              <a:t>Евгений Юрченко</a:t>
            </a:r>
          </a:p>
        </p:txBody>
      </p:sp>
      <p:sp>
        <p:nvSpPr>
          <p:cNvPr id="2106280081" name="TextBox 2106280080"/>
          <p:cNvSpPr txBox="1"/>
          <p:nvPr/>
        </p:nvSpPr>
        <p:spPr>
          <a:xfrm>
            <a:off x="8458200" y="3200400"/>
            <a:ext cx="2807208" cy="6949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C1D22"/>
                </a:solidFill>
                <a:latin typeface="Montserrat"/>
              </a:rPr>
              <a:t>AI-инженер · vibe-кодер</a:t>
            </a:r>
          </a:p>
        </p:txBody>
      </p:sp>
      <p:sp>
        <p:nvSpPr>
          <p:cNvPr id="2106280082" name="TextBox 2106280081"/>
          <p:cNvSpPr txBox="1"/>
          <p:nvPr/>
        </p:nvSpPr>
        <p:spPr>
          <a:xfrm>
            <a:off x="8458200" y="4069080"/>
            <a:ext cx="2816352" cy="8412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C1D22"/>
                </a:solidFill>
                <a:latin typeface="Montserrat"/>
              </a:rPr>
              <a:t>Расчёты, frontend и backend · юрист, Хабаровск</a:t>
            </a:r>
          </a:p>
        </p:txBody>
      </p:sp>
      <p:sp>
        <p:nvSpPr>
          <p:cNvPr id="2106280083" name="TextBox 2106280082"/>
          <p:cNvSpPr txBox="1"/>
          <p:nvPr/>
        </p:nvSpPr>
        <p:spPr>
          <a:xfrm>
            <a:off x="6400800" y="5257800"/>
            <a:ext cx="4754880" cy="3383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10F53"/>
                </a:solidFill>
                <a:latin typeface="Montserrat"/>
              </a:rPr>
              <a:t>Telegram @pawuk_ptr</a:t>
            </a:r>
          </a:p>
        </p:txBody>
      </p:sp>
      <p:sp>
        <p:nvSpPr>
          <p:cNvPr id="2106280084" name="Unified page number"/>
          <p:cNvSpPr txBox="1"/>
          <p:nvPr/>
        </p:nvSpPr>
        <p:spPr>
          <a:xfrm>
            <a:off x="10890504" y="6473952"/>
            <a:ext cx="960120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Montserrat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endParaRPr/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endParaRPr lang="ru-RU">
              <a:latin typeface="Montserrat"/>
            </a:endParaRP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 fontScale="92500" lnSpcReduction="20000"/>
          </a:bodyPr>
          <a:lstStyle/>
          <a:p>
            <a:endParaRPr/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4"/>
            <a:ext cx="9836976" cy="171874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977750832" name="Refined title 4"/>
          <p:cNvSpPr txBox="1"/>
          <p:nvPr/>
        </p:nvSpPr>
        <p:spPr>
          <a:xfrm>
            <a:off x="630936" y="438912"/>
            <a:ext cx="3767328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ontserrat"/>
              </a:rPr>
              <a:t>ПОЧЕМУ МЫ ВЗЯЛИСЬ</a:t>
            </a:r>
          </a:p>
        </p:txBody>
      </p:sp>
      <p:sp>
        <p:nvSpPr>
          <p:cNvPr id="1977750833" name="Rounded Rectangle 1977750832"/>
          <p:cNvSpPr/>
          <p:nvPr/>
        </p:nvSpPr>
        <p:spPr>
          <a:xfrm>
            <a:off x="393192" y="1179576"/>
            <a:ext cx="11402568" cy="1298448"/>
          </a:xfrm>
          <a:prstGeom prst="roundRect">
            <a:avLst>
              <a:gd name="adj" fmla="val 10000"/>
            </a:avLst>
          </a:prstGeom>
          <a:solidFill>
            <a:srgbClr val="FA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7750834" name="Rectangle 1977750833"/>
          <p:cNvSpPr/>
          <p:nvPr/>
        </p:nvSpPr>
        <p:spPr>
          <a:xfrm>
            <a:off x="530352" y="1344168"/>
            <a:ext cx="50292" cy="969264"/>
          </a:xfrm>
          <a:prstGeom prst="rect">
            <a:avLst/>
          </a:prstGeom>
          <a:solidFill>
            <a:srgbClr val="FF0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7750835" name="TextBox 1977750834"/>
          <p:cNvSpPr txBox="1"/>
          <p:nvPr/>
        </p:nvSpPr>
        <p:spPr>
          <a:xfrm>
            <a:off x="722376" y="1335024"/>
            <a:ext cx="10789920" cy="3383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310F53"/>
                </a:solidFill>
                <a:latin typeface="Montserrat"/>
              </a:rPr>
              <a:t>01  История команды</a:t>
            </a:r>
          </a:p>
        </p:txBody>
      </p:sp>
      <p:sp>
        <p:nvSpPr>
          <p:cNvPr id="1977750836" name="TextBox 1977750835"/>
          <p:cNvSpPr txBox="1"/>
          <p:nvPr/>
        </p:nvSpPr>
        <p:spPr>
          <a:xfrm>
            <a:off x="722376" y="1765287"/>
            <a:ext cx="10789920" cy="54765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520" b="0" dirty="0" err="1">
                <a:solidFill>
                  <a:srgbClr val="1C1D22"/>
                </a:solidFill>
                <a:latin typeface="Montserrat"/>
              </a:rPr>
              <a:t>Мы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дружим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больше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15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лет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со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времён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учёбы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на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юристов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в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Хабаровске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.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Вместе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играли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в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рок-группе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и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побеждали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в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студенческих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конкурсах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.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Затем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Владимир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переехал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но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дружба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сохранилась</a:t>
            </a:r>
            <a:endParaRPr sz="1520" b="0" dirty="0">
              <a:solidFill>
                <a:srgbClr val="1C1D22"/>
              </a:solidFill>
              <a:latin typeface="Montserrat"/>
            </a:endParaRPr>
          </a:p>
        </p:txBody>
      </p:sp>
      <p:sp>
        <p:nvSpPr>
          <p:cNvPr id="1977750837" name="Rounded Rectangle 1977750836"/>
          <p:cNvSpPr/>
          <p:nvPr/>
        </p:nvSpPr>
        <p:spPr>
          <a:xfrm>
            <a:off x="393192" y="2660904"/>
            <a:ext cx="11402568" cy="1316736"/>
          </a:xfrm>
          <a:prstGeom prst="roundRect">
            <a:avLst>
              <a:gd name="adj" fmla="val 10000"/>
            </a:avLst>
          </a:prstGeom>
          <a:solidFill>
            <a:srgbClr val="FA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7750838" name="Rectangle 1977750837"/>
          <p:cNvSpPr/>
          <p:nvPr/>
        </p:nvSpPr>
        <p:spPr>
          <a:xfrm>
            <a:off x="530352" y="2825496"/>
            <a:ext cx="50292" cy="987552"/>
          </a:xfrm>
          <a:prstGeom prst="rect">
            <a:avLst/>
          </a:prstGeom>
          <a:solidFill>
            <a:srgbClr val="FF0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7750839" name="TextBox 1977750838"/>
          <p:cNvSpPr txBox="1"/>
          <p:nvPr/>
        </p:nvSpPr>
        <p:spPr>
          <a:xfrm>
            <a:off x="722376" y="2816352"/>
            <a:ext cx="10789920" cy="3383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310F53"/>
                </a:solidFill>
                <a:latin typeface="Montserrat"/>
              </a:rPr>
              <a:t>02  Почему эта задача</a:t>
            </a:r>
          </a:p>
        </p:txBody>
      </p:sp>
      <p:sp>
        <p:nvSpPr>
          <p:cNvPr id="1977750840" name="TextBox 1977750839"/>
          <p:cNvSpPr txBox="1"/>
          <p:nvPr/>
        </p:nvSpPr>
        <p:spPr>
          <a:xfrm>
            <a:off x="722376" y="3255759"/>
            <a:ext cx="10789920" cy="54765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520" b="0" dirty="0" err="1">
                <a:solidFill>
                  <a:srgbClr val="1C1D22"/>
                </a:solidFill>
                <a:latin typeface="Montserrat"/>
              </a:rPr>
              <a:t>Нас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привлекло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сочетание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глубоких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расчётов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и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продуктового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вызова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: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сделать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сложную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роботизацию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понятной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заказчику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. И,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конечно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за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роботами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будущее</a:t>
            </a:r>
            <a:r>
              <a:rPr lang="en-US" sz="1520" b="0" dirty="0">
                <a:solidFill>
                  <a:srgbClr val="1C1D22"/>
                </a:solidFill>
                <a:latin typeface="Montserrat"/>
              </a:rPr>
              <a:t>)</a:t>
            </a:r>
            <a:endParaRPr sz="1520" b="0" dirty="0">
              <a:solidFill>
                <a:srgbClr val="1C1D22"/>
              </a:solidFill>
              <a:latin typeface="Montserrat"/>
            </a:endParaRPr>
          </a:p>
        </p:txBody>
      </p:sp>
      <p:sp>
        <p:nvSpPr>
          <p:cNvPr id="1977750841" name="Rounded Rectangle 1977750840"/>
          <p:cNvSpPr/>
          <p:nvPr/>
        </p:nvSpPr>
        <p:spPr>
          <a:xfrm>
            <a:off x="393192" y="4160520"/>
            <a:ext cx="11402568" cy="1920240"/>
          </a:xfrm>
          <a:prstGeom prst="roundRect">
            <a:avLst>
              <a:gd name="adj" fmla="val 10000"/>
            </a:avLst>
          </a:prstGeom>
          <a:solidFill>
            <a:srgbClr val="FA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7750842" name="Rectangle 1977750841"/>
          <p:cNvSpPr/>
          <p:nvPr/>
        </p:nvSpPr>
        <p:spPr>
          <a:xfrm>
            <a:off x="530352" y="4325112"/>
            <a:ext cx="50292" cy="1591056"/>
          </a:xfrm>
          <a:prstGeom prst="rect">
            <a:avLst/>
          </a:prstGeom>
          <a:solidFill>
            <a:srgbClr val="FF0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7750843" name="TextBox 1977750842"/>
          <p:cNvSpPr txBox="1"/>
          <p:nvPr/>
        </p:nvSpPr>
        <p:spPr>
          <a:xfrm>
            <a:off x="722376" y="4315968"/>
            <a:ext cx="10789920" cy="3383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310F53"/>
                </a:solidFill>
                <a:latin typeface="Montserrat"/>
              </a:rPr>
              <a:t>03  Главный вызов</a:t>
            </a:r>
          </a:p>
        </p:txBody>
      </p:sp>
      <p:sp>
        <p:nvSpPr>
          <p:cNvPr id="1977750844" name="TextBox 1977750843"/>
          <p:cNvSpPr txBox="1"/>
          <p:nvPr/>
        </p:nvSpPr>
        <p:spPr>
          <a:xfrm>
            <a:off x="722376" y="4924974"/>
            <a:ext cx="10789920" cy="8119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520" b="0" dirty="0" err="1">
                <a:solidFill>
                  <a:srgbClr val="1C1D22"/>
                </a:solidFill>
                <a:latin typeface="Montserrat"/>
              </a:rPr>
              <a:t>Оказалось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что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цены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робота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и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зарплаты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недостаточно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: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нужны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физика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процесса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ограничения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объекта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труд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и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экономика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.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Помогли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опыт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работы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с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крупными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организациями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и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закупками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инженерная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работа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Жени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.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Идея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3D-визуализации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выросла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из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игр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с </a:t>
            </a:r>
            <a:r>
              <a:rPr sz="1520" b="0" dirty="0" err="1">
                <a:solidFill>
                  <a:srgbClr val="1C1D22"/>
                </a:solidFill>
                <a:latin typeface="Montserrat"/>
              </a:rPr>
              <a:t>сыном</a:t>
            </a:r>
            <a:r>
              <a:rPr sz="1520" b="0" dirty="0">
                <a:solidFill>
                  <a:srgbClr val="1C1D22"/>
                </a:solidFill>
                <a:latin typeface="Montserrat"/>
              </a:rPr>
              <a:t> в Minecraft</a:t>
            </a:r>
          </a:p>
        </p:txBody>
      </p:sp>
      <p:sp>
        <p:nvSpPr>
          <p:cNvPr id="1977750845" name="Unified page number"/>
          <p:cNvSpPr txBox="1"/>
          <p:nvPr/>
        </p:nvSpPr>
        <p:spPr>
          <a:xfrm>
            <a:off x="10890504" y="6473952"/>
            <a:ext cx="960120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Montserrat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endParaRPr/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Продуктовая суть решения</a:t>
            </a:r>
            <a:endParaRPr dirty="0"/>
          </a:p>
          <a:p>
            <a:pPr>
              <a:lnSpc>
                <a:spcPct val="100000"/>
              </a:lnSpc>
              <a:defRPr/>
            </a:pP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5A6A6A-DB97-CFD7-A2A1-222CBFBE4541}"/>
              </a:ext>
            </a:extLst>
          </p:cNvPr>
          <p:cNvSpPr txBox="1"/>
          <p:nvPr/>
        </p:nvSpPr>
        <p:spPr bwMode="auto">
          <a:xfrm>
            <a:off x="589492" y="1912981"/>
            <a:ext cx="31089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DC7565-61D2-A141-C93B-F23776FAFB7C}"/>
              </a:ext>
            </a:extLst>
          </p:cNvPr>
          <p:cNvSpPr txBox="1"/>
          <p:nvPr/>
        </p:nvSpPr>
        <p:spPr bwMode="auto">
          <a:xfrm>
            <a:off x="618067" y="1820232"/>
            <a:ext cx="3108960" cy="21945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A1D81F-AA6C-09BA-4155-E3948B99C39E}"/>
              </a:ext>
            </a:extLst>
          </p:cNvPr>
          <p:cNvSpPr txBox="1"/>
          <p:nvPr/>
        </p:nvSpPr>
        <p:spPr bwMode="auto">
          <a:xfrm>
            <a:off x="618067" y="3514006"/>
            <a:ext cx="31089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5BF28F-1F69-E048-9756-D3CB35BF41A1}"/>
              </a:ext>
            </a:extLst>
          </p:cNvPr>
          <p:cNvSpPr txBox="1"/>
          <p:nvPr/>
        </p:nvSpPr>
        <p:spPr bwMode="auto">
          <a:xfrm>
            <a:off x="646642" y="3261161"/>
            <a:ext cx="3108960" cy="21945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68F2C5-931B-AB0E-C1F5-67936EDD0B74}"/>
              </a:ext>
            </a:extLst>
          </p:cNvPr>
          <p:cNvSpPr txBox="1"/>
          <p:nvPr/>
        </p:nvSpPr>
        <p:spPr bwMode="auto">
          <a:xfrm>
            <a:off x="578063" y="4826271"/>
            <a:ext cx="31089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endParaRPr/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2D02D0F2-1316-C99D-AD43-345390665C7E}"/>
              </a:ext>
            </a:extLst>
          </p:cNvPr>
          <p:cNvSpPr txBox="1">
            <a:spLocks/>
          </p:cNvSpPr>
          <p:nvPr/>
        </p:nvSpPr>
        <p:spPr bwMode="auto">
          <a:xfrm>
            <a:off x="6472358" y="1995428"/>
            <a:ext cx="4957144" cy="841938"/>
          </a:xfrm>
          <a:prstGeom prst="rect">
            <a:avLst/>
          </a:prstGeom>
        </p:spPr>
        <p:txBody>
          <a:bodyPr vert="horz" wrap="square" lIns="91440" tIns="18288" rIns="91440" bIns="18288" rtlCol="0">
            <a:normAutofit lnSpcReduction="1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ru-RU" sz="1430" b="0" dirty="0">
                <a:solidFill>
                  <a:srgbClr val="1C1D22"/>
                </a:solidFill>
                <a:latin typeface="Montserrat"/>
              </a:rPr>
              <a:t>Работающий прототип уже доступен на robodovod.ru: от выбора объекта до расчёта и инвестиционного отчёта.</a:t>
            </a:r>
            <a:endParaRPr lang="ru-RU" dirty="0"/>
          </a:p>
          <a:p>
            <a:pPr marL="0" indent="0">
              <a:lnSpc>
                <a:spcPct val="107000"/>
              </a:lnSpc>
              <a:spcAft>
                <a:spcPts val="0"/>
              </a:spcAft>
              <a:buFont typeface="Arial"/>
              <a:buNone/>
              <a:defRPr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21" name="Текст 6">
            <a:extLst>
              <a:ext uri="{FF2B5EF4-FFF2-40B4-BE49-F238E27FC236}">
                <a16:creationId xmlns:a16="http://schemas.microsoft.com/office/drawing/2014/main" id="{63126042-BE1B-D7C8-298B-5EBAC28B48AA}"/>
              </a:ext>
            </a:extLst>
          </p:cNvPr>
          <p:cNvSpPr txBox="1">
            <a:spLocks/>
          </p:cNvSpPr>
          <p:nvPr/>
        </p:nvSpPr>
        <p:spPr bwMode="auto">
          <a:xfrm>
            <a:off x="6472358" y="2935242"/>
            <a:ext cx="4957144" cy="841938"/>
          </a:xfrm>
          <a:prstGeom prst="rect">
            <a:avLst/>
          </a:prstGeom>
        </p:spPr>
        <p:txBody>
          <a:bodyPr vert="horz" wrap="square" lIns="91440" tIns="18288" rIns="91440" bIns="18288" rtlCol="0">
            <a:normAutofit lnSpcReduction="1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ru-RU" sz="1430" b="0" dirty="0">
                <a:solidFill>
                  <a:srgbClr val="1C1D22"/>
                </a:solidFill>
                <a:latin typeface="Montserrat"/>
              </a:rPr>
              <a:t>Три типа объектов: склад, аэропорт и клиника. Для каждого — операции, типовые сценарии и симуляция.</a:t>
            </a:r>
            <a:r>
              <a:rPr lang="en-US"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lang="ru-RU"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lang="en-US" sz="1430" b="0" dirty="0">
                <a:solidFill>
                  <a:srgbClr val="1C1D22"/>
                </a:solidFill>
                <a:latin typeface="Montserrat"/>
              </a:rPr>
              <a:t/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9B8591DB-7A56-4F26-5699-3D77B6C4DF40}"/>
              </a:ext>
            </a:extLst>
          </p:cNvPr>
          <p:cNvSpPr txBox="1">
            <a:spLocks/>
          </p:cNvSpPr>
          <p:nvPr/>
        </p:nvSpPr>
        <p:spPr bwMode="auto">
          <a:xfrm>
            <a:off x="6472358" y="3875056"/>
            <a:ext cx="4957144" cy="765771"/>
          </a:xfrm>
          <a:prstGeom prst="rect">
            <a:avLst/>
          </a:prstGeom>
        </p:spPr>
        <p:txBody>
          <a:bodyPr vert="horz" wrap="square" lIns="91440" tIns="18288" rIns="91440" bIns="18288" rtlCol="0">
            <a:normAutofit fontScale="92500" lnSpcReduction="1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ru-RU" sz="1430" b="0" dirty="0">
                <a:solidFill>
                  <a:srgbClr val="1C1D22"/>
                </a:solidFill>
                <a:latin typeface="Montserrat"/>
              </a:rPr>
              <a:t>Пять шагов: Работы → Роботы → Симуляция → Деньги → Результат. Сравниваем покупку и аренду (RaaS).</a:t>
            </a:r>
            <a:r>
              <a:rPr lang="ru-RU"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lang="ru-RU"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lang="en-US"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lang="ru-RU"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lang="en-US"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lang="ru-RU"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lang="en-US"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lang="ru-RU"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lang="ru-RU"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lang="ru-RU" sz="1430" b="0" dirty="0">
                <a:solidFill>
                  <a:srgbClr val="1C1D22"/>
                </a:solidFill>
                <a:latin typeface="Montserrat"/>
              </a:rPr>
              <a:t/>
            </a:r>
          </a:p>
        </p:txBody>
      </p:sp>
      <p:sp>
        <p:nvSpPr>
          <p:cNvPr id="25" name="Текст 6">
            <a:extLst>
              <a:ext uri="{FF2B5EF4-FFF2-40B4-BE49-F238E27FC236}">
                <a16:creationId xmlns:a16="http://schemas.microsoft.com/office/drawing/2014/main" id="{BDD70282-6BE7-73CE-BB3F-EADE8B70F9D0}"/>
              </a:ext>
            </a:extLst>
          </p:cNvPr>
          <p:cNvSpPr txBox="1">
            <a:spLocks/>
          </p:cNvSpPr>
          <p:nvPr/>
        </p:nvSpPr>
        <p:spPr bwMode="auto">
          <a:xfrm>
            <a:off x="6472358" y="4826271"/>
            <a:ext cx="4957144" cy="765771"/>
          </a:xfrm>
          <a:prstGeom prst="rect">
            <a:avLst/>
          </a:prstGeom>
        </p:spPr>
        <p:txBody>
          <a:bodyPr vert="horz" wrap="square" lIns="91440" tIns="18288" rIns="91440" bIns="18288" rtlCol="0">
            <a:normAutofit fontScale="92500" lnSpcReduction="1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ru-RU" sz="1430" b="0" dirty="0">
                <a:solidFill>
                  <a:srgbClr val="1C1D22"/>
                </a:solidFill>
                <a:latin typeface="Montserrat"/>
              </a:rPr>
              <a:t>Цель — помочь B2B/B2G-заказчику выбрать перспективный пилот. Непроверенные данные и допущения явно отмечены.</a:t>
            </a:r>
            <a:r>
              <a:rPr lang="en-US"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lang="ru-RU"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lang="en-US"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lang="ru-RU"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lang="ru-RU"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lang="ru-RU" sz="1430" b="0" dirty="0">
                <a:solidFill>
                  <a:srgbClr val="1C1D22"/>
                </a:solidFill>
                <a:latin typeface="Montserrat"/>
              </a:rPr>
              <a:t/>
            </a:r>
          </a:p>
        </p:txBody>
      </p:sp>
      <p:sp>
        <p:nvSpPr>
          <p:cNvPr id="2139836322" name="Oval 2139836321"/>
          <p:cNvSpPr/>
          <p:nvPr/>
        </p:nvSpPr>
        <p:spPr>
          <a:xfrm>
            <a:off x="658368" y="2342941"/>
            <a:ext cx="68580" cy="68580"/>
          </a:xfrm>
          <a:prstGeom prst="ellipse">
            <a:avLst/>
          </a:prstGeom>
          <a:solidFill>
            <a:srgbClr val="FF0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9836323" name="TextBox 2139836322"/>
          <p:cNvSpPr txBox="1"/>
          <p:nvPr/>
        </p:nvSpPr>
        <p:spPr>
          <a:xfrm>
            <a:off x="804672" y="1981624"/>
            <a:ext cx="4782312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1430" b="0" dirty="0" err="1">
                <a:solidFill>
                  <a:srgbClr val="1C1D22"/>
                </a:solidFill>
                <a:latin typeface="Montserrat"/>
              </a:rPr>
              <a:t>Работы → ограничения объекта → подбор решений → расчёт необходимого парка роботов</a:t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endParaRPr sz="1430" b="0" dirty="0">
              <a:solidFill>
                <a:srgbClr val="1C1D22"/>
              </a:solidFill>
              <a:latin typeface="Montserrat"/>
            </a:endParaRPr>
          </a:p>
        </p:txBody>
      </p:sp>
      <p:sp>
        <p:nvSpPr>
          <p:cNvPr id="2139836324" name="Oval 2139836323"/>
          <p:cNvSpPr/>
          <p:nvPr/>
        </p:nvSpPr>
        <p:spPr>
          <a:xfrm>
            <a:off x="658368" y="3058668"/>
            <a:ext cx="68580" cy="68580"/>
          </a:xfrm>
          <a:prstGeom prst="ellipse">
            <a:avLst/>
          </a:prstGeom>
          <a:solidFill>
            <a:srgbClr val="FF0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9836325" name="TextBox 2139836324"/>
          <p:cNvSpPr txBox="1"/>
          <p:nvPr/>
        </p:nvSpPr>
        <p:spPr>
          <a:xfrm>
            <a:off x="804672" y="2725398"/>
            <a:ext cx="4782312" cy="7955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1430" b="0" dirty="0" err="1">
                <a:solidFill>
                  <a:srgbClr val="1C1D22"/>
                </a:solidFill>
                <a:latin typeface="Montserrat"/>
              </a:rPr>
              <a:t>Остаточные ручные операции и труд → покупка / RaaS → ROI, NPV, окупаемость</a:t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</a:p>
        </p:txBody>
      </p:sp>
      <p:sp>
        <p:nvSpPr>
          <p:cNvPr id="2139836326" name="Oval 2139836325"/>
          <p:cNvSpPr/>
          <p:nvPr/>
        </p:nvSpPr>
        <p:spPr>
          <a:xfrm>
            <a:off x="658368" y="3861752"/>
            <a:ext cx="68580" cy="68580"/>
          </a:xfrm>
          <a:prstGeom prst="ellipse">
            <a:avLst/>
          </a:prstGeom>
          <a:solidFill>
            <a:srgbClr val="FF0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9836327" name="TextBox 2139836326"/>
          <p:cNvSpPr txBox="1"/>
          <p:nvPr/>
        </p:nvSpPr>
        <p:spPr>
          <a:xfrm>
            <a:off x="804672" y="3560000"/>
            <a:ext cx="4782312" cy="7406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1430" b="0" dirty="0" err="1">
                <a:solidFill>
                  <a:srgbClr val="1C1D22"/>
                </a:solidFill>
                <a:latin typeface="Montserrat"/>
              </a:rPr>
              <a:t>Интерактивная 2D/3D-симуляция: маршруты, движение и влияние на потребность в парке</a:t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endParaRPr sz="1430" b="0" dirty="0">
              <a:solidFill>
                <a:srgbClr val="1C1D22"/>
              </a:solidFill>
              <a:latin typeface="Montserrat"/>
            </a:endParaRPr>
          </a:p>
        </p:txBody>
      </p:sp>
      <p:sp>
        <p:nvSpPr>
          <p:cNvPr id="2139836328" name="Oval 2139836327"/>
          <p:cNvSpPr/>
          <p:nvPr/>
        </p:nvSpPr>
        <p:spPr>
          <a:xfrm>
            <a:off x="658368" y="4709533"/>
            <a:ext cx="68580" cy="68580"/>
          </a:xfrm>
          <a:prstGeom prst="ellipse">
            <a:avLst/>
          </a:prstGeom>
          <a:solidFill>
            <a:srgbClr val="FF0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9836329" name="TextBox 2139836328"/>
          <p:cNvSpPr txBox="1"/>
          <p:nvPr/>
        </p:nvSpPr>
        <p:spPr>
          <a:xfrm>
            <a:off x="804672" y="4393087"/>
            <a:ext cx="4782312" cy="7498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1430" b="0" dirty="0">
                <a:solidFill>
                  <a:srgbClr val="1C1D22"/>
                </a:solidFill>
                <a:latin typeface="Montserrat"/>
              </a:rPr>
              <a:t>React/Vite · FastAPI · PostgreSQL; сохранённые сценарии и инвестиционный PDF</a:t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>
                <a:solidFill>
                  <a:srgbClr val="1C1D22"/>
                </a:solidFill>
                <a:latin typeface="Montserrat"/>
              </a:rPr>
              <a:t/>
            </a:r>
            <a:r>
              <a:rPr sz="1430" b="0" dirty="0" err="1">
                <a:solidFill>
                  <a:srgbClr val="1C1D22"/>
                </a:solidFill>
                <a:latin typeface="Montserrat"/>
              </a:rPr>
              <a:t/>
            </a:r>
            <a:endParaRPr sz="1430" b="0" dirty="0">
              <a:solidFill>
                <a:srgbClr val="1C1D22"/>
              </a:solidFill>
              <a:latin typeface="Montserrat"/>
            </a:endParaRPr>
          </a:p>
        </p:txBody>
      </p:sp>
      <p:sp>
        <p:nvSpPr>
          <p:cNvPr id="2139836331" name="Strategy banner"/>
          <p:cNvSpPr txBox="1"/>
          <p:nvPr/>
        </p:nvSpPr>
        <p:spPr>
          <a:xfrm>
            <a:off x="527572" y="6242047"/>
            <a:ext cx="10963656" cy="4480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dirty="0" err="1">
                <a:solidFill>
                  <a:srgbClr val="FFFFFF"/>
                </a:solidFill>
                <a:latin typeface="Montserrat"/>
              </a:rPr>
              <a:t>Сейчас: работающий прототип → проверка с заказчиками → пилоты на реальных объектах</a:t>
            </a:r>
            <a:r>
              <a:rPr sz="1600" b="1" dirty="0">
                <a:solidFill>
                  <a:srgbClr val="FFFFFF"/>
                </a:solidFill>
                <a:latin typeface="Montserrat"/>
              </a:rPr>
              <a:t/>
            </a:r>
            <a:r>
              <a:rPr sz="1600" b="1" dirty="0" err="1">
                <a:solidFill>
                  <a:srgbClr val="FFFFFF"/>
                </a:solidFill>
                <a:latin typeface="Montserrat"/>
              </a:rPr>
              <a:t/>
            </a:r>
            <a:r>
              <a:rPr sz="1600" b="1" dirty="0">
                <a:solidFill>
                  <a:srgbClr val="FFFFFF"/>
                </a:solidFill>
                <a:latin typeface="Montserrat"/>
              </a:rPr>
              <a:t/>
            </a:r>
            <a:r>
              <a:rPr sz="1600" b="1" dirty="0" err="1">
                <a:solidFill>
                  <a:srgbClr val="FFFFFF"/>
                </a:solidFill>
                <a:latin typeface="Montserrat"/>
              </a:rPr>
              <a:t/>
            </a:r>
            <a:r>
              <a:rPr sz="1600" b="1" dirty="0">
                <a:solidFill>
                  <a:srgbClr val="FFFFFF"/>
                </a:solidFill>
                <a:latin typeface="Montserrat"/>
              </a:rPr>
              <a:t/>
            </a:r>
            <a:r>
              <a:rPr sz="1600" b="1" dirty="0" err="1">
                <a:solidFill>
                  <a:srgbClr val="FFFFFF"/>
                </a:solidFill>
                <a:latin typeface="Montserrat"/>
              </a:rPr>
              <a:t/>
            </a:r>
            <a:r>
              <a:rPr sz="1600" b="1" dirty="0">
                <a:solidFill>
                  <a:srgbClr val="FFFFFF"/>
                </a:solidFill>
                <a:latin typeface="Montserrat"/>
              </a:rPr>
              <a:t/>
            </a:r>
            <a:r>
              <a:rPr sz="1600" b="1" dirty="0" err="1">
                <a:solidFill>
                  <a:srgbClr val="FFFFFF"/>
                </a:solidFill>
                <a:latin typeface="Montserrat"/>
              </a:rPr>
              <a:t/>
            </a:r>
            <a:r>
              <a:rPr sz="1600" b="1" dirty="0">
                <a:solidFill>
                  <a:srgbClr val="FFFFFF"/>
                </a:solidFill>
                <a:latin typeface="Montserrat"/>
              </a:rPr>
              <a:t/>
            </a:r>
            <a:r>
              <a:rPr sz="1600" b="1" dirty="0" err="1">
                <a:solidFill>
                  <a:srgbClr val="FFFFFF"/>
                </a:solidFill>
                <a:latin typeface="Montserrat"/>
              </a:rPr>
              <a:t/>
            </a:r>
            <a:r>
              <a:rPr sz="1600" b="1" dirty="0">
                <a:solidFill>
                  <a:srgbClr val="FFFFFF"/>
                </a:solidFill>
                <a:latin typeface="Montserrat"/>
              </a:rPr>
              <a:t/>
            </a:r>
            <a:r>
              <a:rPr sz="1600" b="1" dirty="0" err="1">
                <a:solidFill>
                  <a:srgbClr val="FFFFFF"/>
                </a:solidFill>
                <a:latin typeface="Montserrat"/>
              </a:rPr>
              <a:t/>
            </a:r>
            <a:r>
              <a:rPr sz="1600" b="1" dirty="0">
                <a:solidFill>
                  <a:srgbClr val="FFFFFF"/>
                </a:solidFill>
                <a:latin typeface="Montserrat"/>
              </a:rPr>
              <a:t/>
            </a:r>
            <a:r>
              <a:rPr sz="1600" b="1" dirty="0" err="1">
                <a:solidFill>
                  <a:srgbClr val="FFFFFF"/>
                </a:solidFill>
                <a:latin typeface="Montserrat"/>
              </a:rPr>
              <a:t/>
            </a:r>
            <a:r>
              <a:rPr sz="1600" b="1" dirty="0">
                <a:solidFill>
                  <a:srgbClr val="FFFFFF"/>
                </a:solidFill>
                <a:latin typeface="Montserrat"/>
              </a:rPr>
              <a:t/>
            </a:r>
            <a:r>
              <a:rPr sz="1600" b="1" dirty="0" err="1">
                <a:solidFill>
                  <a:srgbClr val="FFFFFF"/>
                </a:solidFill>
                <a:latin typeface="Montserrat"/>
              </a:rPr>
              <a:t/>
            </a:r>
            <a:endParaRPr sz="1600" b="1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139836332" name="Unified page number"/>
          <p:cNvSpPr txBox="1"/>
          <p:nvPr/>
        </p:nvSpPr>
        <p:spPr>
          <a:xfrm>
            <a:off x="10890504" y="6473952"/>
            <a:ext cx="960120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Montserrat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7" name="Picture 6" descr="pitch_background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1121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329184"/>
            <a:ext cx="1133856" cy="329184"/>
          </a:xfrm>
          <a:prstGeom prst="roundRect">
            <a:avLst>
              <a:gd name="adj" fmla="val 40000"/>
            </a:avLst>
          </a:prstGeom>
          <a:solidFill>
            <a:srgbClr val="262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47472"/>
            <a:ext cx="896112" cy="2743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100" b="1" i="0">
                <a:solidFill>
                  <a:srgbClr val="AE79FA"/>
                </a:solidFill>
                <a:latin typeface="Inter"/>
              </a:defRPr>
            </a:pPr>
            <a:r>
              <a:t>РЕШЕНИЕ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969264"/>
            <a:ext cx="7589520" cy="704088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3400" b="1" i="0">
                <a:solidFill>
                  <a:srgbClr val="F6F7FC"/>
                </a:solidFill>
                <a:latin typeface="Inter"/>
              </a:defRPr>
            </a:pPr>
            <a:r>
              <a:t>Пять шагов до решения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664208"/>
            <a:ext cx="8321040" cy="585216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600" b="0" i="0">
                <a:solidFill>
                  <a:srgbClr val="E1E3F0"/>
                </a:solidFill>
                <a:latin typeface="Inter"/>
              </a:defRPr>
            </a:pPr>
            <a:r>
              <a:t>Не продаём робота. Проверяем, есть ли смысл его внедрять.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" y="3557016"/>
            <a:ext cx="2112264" cy="1371600"/>
          </a:xfrm>
          <a:prstGeom prst="roundRect">
            <a:avLst>
              <a:gd name="adj" fmla="val 14000"/>
            </a:avLst>
          </a:prstGeom>
          <a:solidFill>
            <a:srgbClr val="12192B"/>
          </a:solidFill>
          <a:ln w="11430">
            <a:solidFill>
              <a:srgbClr val="535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685032"/>
            <a:ext cx="384048" cy="283464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AE79FA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977639"/>
            <a:ext cx="1892807" cy="356616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600" b="1" i="0">
                <a:solidFill>
                  <a:srgbClr val="F6F7FC"/>
                </a:solidFill>
                <a:latin typeface="Inter"/>
              </a:defRPr>
            </a:pPr>
            <a:r>
              <a:t>Работы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416552"/>
            <a:ext cx="1892807" cy="34747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000" b="0" i="0">
                <a:solidFill>
                  <a:srgbClr val="AEB5CE"/>
                </a:solidFill>
                <a:latin typeface="Inter"/>
              </a:defRPr>
            </a:pPr>
            <a:r>
              <a:t>Что нужно делать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4032504"/>
            <a:ext cx="201168" cy="283464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75E0B5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25496" y="3557016"/>
            <a:ext cx="2112264" cy="1371600"/>
          </a:xfrm>
          <a:prstGeom prst="roundRect">
            <a:avLst>
              <a:gd name="adj" fmla="val 14000"/>
            </a:avLst>
          </a:prstGeom>
          <a:solidFill>
            <a:srgbClr val="12192B"/>
          </a:solidFill>
          <a:ln w="11430">
            <a:solidFill>
              <a:srgbClr val="535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3685032"/>
            <a:ext cx="384048" cy="283464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AE79FA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3512" y="3977639"/>
            <a:ext cx="1892807" cy="356616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600" b="1" i="0">
                <a:solidFill>
                  <a:srgbClr val="F6F7FC"/>
                </a:solidFill>
                <a:latin typeface="Inter"/>
              </a:defRPr>
            </a:pPr>
            <a:r>
              <a:t>Роботы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3512" y="4416552"/>
            <a:ext cx="1892807" cy="34747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000" b="0" i="0">
                <a:solidFill>
                  <a:srgbClr val="AEB5CE"/>
                </a:solidFill>
                <a:latin typeface="Inter"/>
              </a:defRPr>
            </a:pPr>
            <a:r>
              <a:t>Что подойдёт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46904" y="4032504"/>
            <a:ext cx="201168" cy="283464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75E0B5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57216" y="3557016"/>
            <a:ext cx="2112264" cy="1371600"/>
          </a:xfrm>
          <a:prstGeom prst="roundRect">
            <a:avLst>
              <a:gd name="adj" fmla="val 14000"/>
            </a:avLst>
          </a:prstGeom>
          <a:solidFill>
            <a:srgbClr val="12192B"/>
          </a:solidFill>
          <a:ln w="11430">
            <a:solidFill>
              <a:srgbClr val="535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85231" y="3685032"/>
            <a:ext cx="384048" cy="283464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AE79FA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977639"/>
            <a:ext cx="1892807" cy="356616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600" b="1" i="0">
                <a:solidFill>
                  <a:srgbClr val="F6F7FC"/>
                </a:solidFill>
                <a:latin typeface="Inter"/>
              </a:defRPr>
            </a:pPr>
            <a:r>
              <a:t>Симуляция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5231" y="4416552"/>
            <a:ext cx="1892807" cy="34747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000" b="0" i="0">
                <a:solidFill>
                  <a:srgbClr val="AEB5CE"/>
                </a:solidFill>
                <a:latin typeface="Inter"/>
              </a:defRPr>
            </a:pPr>
            <a:r>
              <a:t>Как будет двигаться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8623" y="4032504"/>
            <a:ext cx="201168" cy="283464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75E0B5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88936" y="3557016"/>
            <a:ext cx="2112264" cy="1371600"/>
          </a:xfrm>
          <a:prstGeom prst="roundRect">
            <a:avLst>
              <a:gd name="adj" fmla="val 14000"/>
            </a:avLst>
          </a:prstGeom>
          <a:solidFill>
            <a:srgbClr val="12192B"/>
          </a:solidFill>
          <a:ln w="11430">
            <a:solidFill>
              <a:srgbClr val="535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16952" y="3685032"/>
            <a:ext cx="384048" cy="283464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AE79FA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6952" y="3977639"/>
            <a:ext cx="1892807" cy="356616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600" b="1" i="0">
                <a:solidFill>
                  <a:srgbClr val="F6F7FC"/>
                </a:solidFill>
                <a:latin typeface="Inter"/>
              </a:defRPr>
            </a:pPr>
            <a:r>
              <a:t>Деньги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6952" y="4416552"/>
            <a:ext cx="1892807" cy="34747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000" b="0" i="0">
                <a:solidFill>
                  <a:srgbClr val="AEB5CE"/>
                </a:solidFill>
                <a:latin typeface="Inter"/>
              </a:defRPr>
            </a:pPr>
            <a:r>
              <a:t>Покупка или RaaS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0344" y="4032504"/>
            <a:ext cx="201168" cy="283464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75E0B5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20656" y="3557016"/>
            <a:ext cx="2112264" cy="1371600"/>
          </a:xfrm>
          <a:prstGeom prst="roundRect">
            <a:avLst>
              <a:gd name="adj" fmla="val 14000"/>
            </a:avLst>
          </a:prstGeom>
          <a:solidFill>
            <a:srgbClr val="12192B"/>
          </a:solidFill>
          <a:ln w="11430">
            <a:solidFill>
              <a:srgbClr val="535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48672" y="3685032"/>
            <a:ext cx="384048" cy="283464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AE79FA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48672" y="3977639"/>
            <a:ext cx="1892807" cy="356616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600" b="1" i="0">
                <a:solidFill>
                  <a:srgbClr val="F6F7FC"/>
                </a:solidFill>
                <a:latin typeface="Inter"/>
              </a:defRPr>
            </a:pPr>
            <a:r>
              <a:t>Результат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48672" y="4416552"/>
            <a:ext cx="1892807" cy="34747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000" b="0" i="0">
                <a:solidFill>
                  <a:srgbClr val="AEB5CE"/>
                </a:solidFill>
                <a:latin typeface="Inter"/>
              </a:defRPr>
            </a:pPr>
            <a:r>
              <a:t>Аргументы и PDF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9496" y="5404104"/>
            <a:ext cx="8101583" cy="548640"/>
          </a:xfrm>
          <a:prstGeom prst="roundRect">
            <a:avLst>
              <a:gd name="adj" fmla="val 20000"/>
            </a:avLst>
          </a:prstGeom>
          <a:solidFill>
            <a:srgbClr val="15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5495544"/>
            <a:ext cx="7607808" cy="36576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400" b="1" i="0">
                <a:solidFill>
                  <a:srgbClr val="DFEAF7"/>
                </a:solidFill>
                <a:latin typeface="Inter"/>
              </a:defRPr>
            </a:pPr>
            <a:r>
              <a:t>Объект → проверенные ограничения → инженерный расчёт → финансовый вывод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10528"/>
            <a:ext cx="3657600" cy="155448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900" b="0" i="0">
                <a:solidFill>
                  <a:srgbClr val="AEB5CE"/>
                </a:solidFill>
                <a:latin typeface="Inter"/>
              </a:defRPr>
            </a:pPr>
            <a:r>
              <a:t>ZMNCRAFT   /   РОБОДОВОД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08792" y="6510528"/>
            <a:ext cx="786384" cy="155448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AEB5CE"/>
                </a:solidFill>
                <a:latin typeface="Inter"/>
              </a:defRPr>
            </a:pPr>
            <a: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7" name="Picture 6" descr="pitch_background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274320"/>
            <a:ext cx="1874519" cy="329184"/>
          </a:xfrm>
          <a:prstGeom prst="roundRect">
            <a:avLst>
              <a:gd name="adj" fmla="val 40000"/>
            </a:avLst>
          </a:prstGeom>
          <a:solidFill>
            <a:srgbClr val="262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92608"/>
            <a:ext cx="1636775" cy="2743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100" b="1" i="0">
                <a:solidFill>
                  <a:srgbClr val="AE79FA"/>
                </a:solidFill>
                <a:latin typeface="Inter"/>
              </a:defRPr>
            </a:pPr>
            <a:r>
              <a:t>ДЕМОНСТРАЦИЯ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813816"/>
            <a:ext cx="10515600" cy="612648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3200" b="1" i="0">
                <a:solidFill>
                  <a:srgbClr val="F6F7FC"/>
                </a:solidFill>
                <a:latin typeface="Inter"/>
              </a:defRPr>
            </a:pPr>
            <a:r>
              <a:t>Роботизация становится видимой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499616"/>
            <a:ext cx="10744200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700" b="0" i="0">
                <a:solidFill>
                  <a:srgbClr val="AEB5CE"/>
                </a:solidFill>
                <a:latin typeface="Inter"/>
              </a:defRPr>
            </a:pPr>
            <a:r>
              <a:t>2D-маршрут и 3D-сцена связаны одной моделью объекта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93976"/>
            <a:ext cx="7452360" cy="4087368"/>
          </a:xfrm>
          <a:prstGeom prst="roundRect">
            <a:avLst>
              <a:gd name="adj" fmla="val 9000"/>
            </a:avLst>
          </a:prstGeom>
          <a:solidFill>
            <a:srgbClr val="1A2033"/>
          </a:solidFill>
          <a:ln w="11430">
            <a:solidFill>
              <a:srgbClr val="3D47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74736" y="2148840"/>
            <a:ext cx="3474720" cy="1088136"/>
          </a:xfrm>
          <a:prstGeom prst="roundRect">
            <a:avLst>
              <a:gd name="adj" fmla="val 12000"/>
            </a:avLst>
          </a:prstGeom>
          <a:solidFill>
            <a:srgbClr val="181E31"/>
          </a:solidFill>
          <a:ln w="11430">
            <a:solidFill>
              <a:srgbClr val="3D47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95144"/>
            <a:ext cx="3026664" cy="36576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800" b="1" i="0">
                <a:solidFill>
                  <a:srgbClr val="F6F7FC"/>
                </a:solidFill>
                <a:latin typeface="Inter"/>
              </a:defRPr>
            </a:pPr>
            <a:r>
              <a:t>01   Маршрут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688336"/>
            <a:ext cx="3017520" cy="36576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200" b="0" i="0">
                <a:solidFill>
                  <a:srgbClr val="AEB5CE"/>
                </a:solidFill>
                <a:latin typeface="Inter"/>
              </a:defRPr>
            </a:pPr>
            <a:r>
              <a:t>Можно увидеть путь и ограничения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3456432"/>
            <a:ext cx="3474720" cy="1088136"/>
          </a:xfrm>
          <a:prstGeom prst="roundRect">
            <a:avLst>
              <a:gd name="adj" fmla="val 12000"/>
            </a:avLst>
          </a:prstGeom>
          <a:solidFill>
            <a:srgbClr val="181E31"/>
          </a:solidFill>
          <a:ln w="11430">
            <a:solidFill>
              <a:srgbClr val="3D47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3611880"/>
            <a:ext cx="3054096" cy="36576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800" b="1" i="0">
                <a:solidFill>
                  <a:srgbClr val="F6F7FC"/>
                </a:solidFill>
                <a:latin typeface="Inter"/>
              </a:defRPr>
            </a:pPr>
            <a:r>
              <a:t>02   Движение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3977639"/>
            <a:ext cx="3026664" cy="36576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200" b="0" i="0">
                <a:solidFill>
                  <a:srgbClr val="AEB5CE"/>
                </a:solidFill>
                <a:latin typeface="Inter"/>
              </a:defRPr>
            </a:pPr>
            <a:r>
              <a:t>Пауза, скорость, работа в сцене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4736" y="4764024"/>
            <a:ext cx="3474720" cy="1088136"/>
          </a:xfrm>
          <a:prstGeom prst="roundRect">
            <a:avLst>
              <a:gd name="adj" fmla="val 12000"/>
            </a:avLst>
          </a:prstGeom>
          <a:solidFill>
            <a:srgbClr val="181E31"/>
          </a:solidFill>
          <a:ln w="11430">
            <a:solidFill>
              <a:srgbClr val="3D47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7" y="4919472"/>
            <a:ext cx="3054096" cy="36576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800" b="1" i="0">
                <a:solidFill>
                  <a:srgbClr val="F6F7FC"/>
                </a:solidFill>
                <a:latin typeface="Inter"/>
              </a:defRPr>
            </a:pPr>
            <a:r>
              <a:t>03   Пересчёт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5285232"/>
            <a:ext cx="3099816" cy="448056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100" b="0" i="0">
                <a:solidFill>
                  <a:srgbClr val="AEB5CE"/>
                </a:solidFill>
                <a:latin typeface="Inter"/>
              </a:defRPr>
            </a:pPr>
            <a:r>
              <a:t>Ограничения влияют на потребность в парке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208776"/>
            <a:ext cx="10652760" cy="237744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r>
              <a:rPr/>
              <a:t>Актуальный экран из рабочего приложения: шаг «Симуляция» для сценария аэропорта.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3657600" cy="155448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900" b="0" i="0">
                <a:solidFill>
                  <a:srgbClr val="AEB5CE"/>
                </a:solidFill>
                <a:latin typeface="Inter"/>
              </a:defRPr>
            </a:pPr>
            <a:r>
              <a:t>ZMNCRAFT   /   РОБОДОВОД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08792" y="6510528"/>
            <a:ext cx="786384" cy="155448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AEB5CE"/>
                </a:solidFill>
                <a:latin typeface="Inter"/>
              </a:defRPr>
            </a:pPr>
            <a:r>
              <a:t>07 / 09</a:t>
            </a:r>
          </a:p>
        </p:txBody>
      </p:sp>
      <p:pic>
        <p:nvPicPr>
          <p:cNvPr id="26" name="Picture 25" descr="a3efcedf-fe9a-53bc-ac81-89c18fd78f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2194560"/>
            <a:ext cx="7251192" cy="38770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7" name="Picture 6" descr="pitch_background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274320"/>
            <a:ext cx="3063240" cy="329184"/>
          </a:xfrm>
          <a:prstGeom prst="roundRect">
            <a:avLst>
              <a:gd name="adj" fmla="val 40000"/>
            </a:avLst>
          </a:prstGeom>
          <a:solidFill>
            <a:srgbClr val="262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92608"/>
            <a:ext cx="2825496" cy="2743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100" b="1" i="0">
                <a:solidFill>
                  <a:srgbClr val="AE79FA"/>
                </a:solidFill>
                <a:latin typeface="Inter"/>
              </a:defRPr>
            </a:pPr>
            <a:r>
              <a:t>ОБОСНОВАНИЕ И РЕЗУЛЬТАТ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832104"/>
            <a:ext cx="10515600" cy="1133856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3200" b="1" i="0">
                <a:solidFill>
                  <a:srgbClr val="F6F7FC"/>
                </a:solidFill>
                <a:latin typeface="Inter"/>
              </a:defRPr>
            </a:pPr>
            <a:r>
              <a:t>Не просто парк роботов.</a:t>
            </a:r>
          </a:p>
          <a:p>
            <a:pPr>
              <a:spcAft>
                <a:spcPts val="0"/>
              </a:spcAft>
              <a:defRPr sz="3200" b="1" i="0">
                <a:solidFill>
                  <a:srgbClr val="F6F7FC"/>
                </a:solidFill>
                <a:latin typeface="Inter"/>
              </a:defRPr>
            </a:pPr>
            <a:r>
              <a:t>Инвестиционный вывод.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" y="2212848"/>
            <a:ext cx="5248656" cy="2093976"/>
          </a:xfrm>
          <a:prstGeom prst="roundRect">
            <a:avLst>
              <a:gd name="adj" fmla="val 8000"/>
            </a:avLst>
          </a:prstGeom>
          <a:solidFill>
            <a:srgbClr val="1A1E36"/>
          </a:solidFill>
          <a:ln w="11430">
            <a:solidFill>
              <a:srgbClr val="3D47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8096" y="2450592"/>
            <a:ext cx="1225296" cy="329184"/>
          </a:xfrm>
          <a:prstGeom prst="roundRect">
            <a:avLst>
              <a:gd name="adj" fmla="val 40000"/>
            </a:avLst>
          </a:prstGeom>
          <a:solidFill>
            <a:srgbClr val="262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987552" cy="2743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100" b="1" i="0">
                <a:solidFill>
                  <a:srgbClr val="75E0B5"/>
                </a:solidFill>
                <a:latin typeface="Inter"/>
              </a:defRPr>
            </a:pPr>
            <a:r>
              <a:t>ПОКУПКА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916936"/>
            <a:ext cx="4572000" cy="512064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6F7FC"/>
                </a:solidFill>
                <a:latin typeface="Inter"/>
              </a:defRPr>
            </a:pPr>
            <a:r>
              <a:t>CAPEX + OPEX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575304"/>
            <a:ext cx="4572000" cy="466344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300" b="0" i="0">
                <a:solidFill>
                  <a:srgbClr val="AEB5CE"/>
                </a:solidFill>
                <a:latin typeface="Inter"/>
              </a:defRPr>
            </a:pPr>
            <a:r>
              <a:t>Оборудование, внедрение, эксплуатация, новый штат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2212848"/>
            <a:ext cx="5477256" cy="2093976"/>
          </a:xfrm>
          <a:prstGeom prst="roundRect">
            <a:avLst>
              <a:gd name="adj" fmla="val 8000"/>
            </a:avLst>
          </a:prstGeom>
          <a:solidFill>
            <a:srgbClr val="1A1E36"/>
          </a:solidFill>
          <a:ln w="11430">
            <a:solidFill>
              <a:srgbClr val="3D47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73368" y="2450592"/>
            <a:ext cx="1975104" cy="329184"/>
          </a:xfrm>
          <a:prstGeom prst="roundRect">
            <a:avLst>
              <a:gd name="adj" fmla="val 40000"/>
            </a:avLst>
          </a:prstGeom>
          <a:solidFill>
            <a:srgbClr val="262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468880"/>
            <a:ext cx="1737360" cy="2743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100" b="1" i="0">
                <a:solidFill>
                  <a:srgbClr val="7DD0F8"/>
                </a:solidFill>
                <a:latin typeface="Inter"/>
              </a:defRPr>
            </a:pPr>
            <a:r>
              <a:t>АРЕНДА / RaaS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916936"/>
            <a:ext cx="4645152" cy="512064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2500" b="1" i="0">
                <a:solidFill>
                  <a:srgbClr val="F6F7FC"/>
                </a:solidFill>
                <a:latin typeface="Inter"/>
              </a:defRPr>
            </a:pPr>
            <a:r>
              <a:t>Платежи + условия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575304"/>
            <a:ext cx="4882896" cy="466344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300" b="0" i="0">
                <a:solidFill>
                  <a:srgbClr val="AEB5CE"/>
                </a:solidFill>
                <a:latin typeface="Inter"/>
              </a:defRPr>
            </a:pPr>
            <a:r>
              <a:t>Тариф, инфраструктура, поддержка и обязательства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" y="4681728"/>
            <a:ext cx="11073384" cy="1088136"/>
          </a:xfrm>
          <a:prstGeom prst="roundRect">
            <a:avLst>
              <a:gd name="adj" fmla="val 12000"/>
            </a:avLst>
          </a:prstGeom>
          <a:solidFill>
            <a:srgbClr val="181F33"/>
          </a:solidFill>
          <a:ln w="11430">
            <a:solidFill>
              <a:srgbClr val="425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910328"/>
            <a:ext cx="10442448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800" b="1" i="0">
                <a:solidFill>
                  <a:srgbClr val="F6F7FC"/>
                </a:solidFill>
                <a:latin typeface="Inter"/>
              </a:defRPr>
            </a:pPr>
            <a:r>
              <a:t>Сравниваем два сценария по денежным потокам, NPV и окупаемости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943600"/>
            <a:ext cx="10515600" cy="329184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200" b="0" i="0">
                <a:solidFill>
                  <a:srgbClr val="75E0B5"/>
                </a:solidFill>
                <a:latin typeface="Inter"/>
              </a:defRPr>
            </a:pPr>
            <a:r>
              <a:t>Если нет подтверждённых характеристик или стоимости — показываем ограничение, а не выдумываем точность.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3657600" cy="155448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900" b="0" i="0">
                <a:solidFill>
                  <a:srgbClr val="AEB5CE"/>
                </a:solidFill>
                <a:latin typeface="Inter"/>
              </a:defRPr>
            </a:pPr>
            <a:r>
              <a:t>ZMNCRAFT   /   РОБОДОВОД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08792" y="6510528"/>
            <a:ext cx="786384" cy="155448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AEB5CE"/>
                </a:solidFill>
                <a:latin typeface="Inter"/>
              </a:defRPr>
            </a:pPr>
            <a: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7" name="Picture 6" descr="pitch_background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12064" y="310896"/>
            <a:ext cx="1664208" cy="329184"/>
          </a:xfrm>
          <a:prstGeom prst="roundRect">
            <a:avLst>
              <a:gd name="adj" fmla="val 40000"/>
            </a:avLst>
          </a:prstGeom>
          <a:solidFill>
            <a:srgbClr val="262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329184"/>
            <a:ext cx="1426464" cy="2743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100" b="1" i="0">
                <a:solidFill>
                  <a:srgbClr val="75E0B5"/>
                </a:solidFill>
                <a:latin typeface="Inter"/>
              </a:defRPr>
            </a:pPr>
            <a:r>
              <a:t>ЧТО ДАЛЬШЕ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932688"/>
            <a:ext cx="7543800" cy="1362456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3400" b="1" i="0">
                <a:solidFill>
                  <a:srgbClr val="F6F7FC"/>
                </a:solidFill>
                <a:latin typeface="Inter"/>
              </a:defRPr>
            </a:pPr>
            <a:r>
              <a:t>Работающий прототип.</a:t>
            </a:r>
          </a:p>
          <a:p>
            <a:pPr>
              <a:spcAft>
                <a:spcPts val="0"/>
              </a:spcAft>
              <a:defRPr sz="3400" b="1" i="0">
                <a:solidFill>
                  <a:srgbClr val="F6F7FC"/>
                </a:solidFill>
                <a:latin typeface="Inter"/>
              </a:defRPr>
            </a:pPr>
            <a:r>
              <a:t>Следующий шаг — пилот.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304288"/>
            <a:ext cx="6803136" cy="603504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700" b="0" i="0">
                <a:solidFill>
                  <a:srgbClr val="AEB5CE"/>
                </a:solidFill>
                <a:latin typeface="Inter"/>
              </a:defRPr>
            </a:pPr>
            <a:r>
              <a:t>Проверим расчёт на реальном объекте вместе с заказчиком и поставщиком.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" y="3182112"/>
            <a:ext cx="6995160" cy="658368"/>
          </a:xfrm>
          <a:prstGeom prst="roundRect">
            <a:avLst>
              <a:gd name="adj" fmla="val 10000"/>
            </a:avLst>
          </a:prstGeom>
          <a:solidFill>
            <a:srgbClr val="1A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310128"/>
            <a:ext cx="448056" cy="25603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75E0B5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291840"/>
            <a:ext cx="2212848" cy="30175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500" b="1" i="0">
                <a:solidFill>
                  <a:srgbClr val="F6F7FC"/>
                </a:solidFill>
                <a:latin typeface="Inter"/>
              </a:defRPr>
            </a:pPr>
            <a:r>
              <a:t>Поток и маршрут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3291840"/>
            <a:ext cx="3813048" cy="34747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200" b="0" i="0">
                <a:solidFill>
                  <a:srgbClr val="AEB5CE"/>
                </a:solidFill>
                <a:latin typeface="Inter"/>
              </a:defRPr>
            </a:pPr>
            <a:r>
              <a:t>Замеряем процессы и ограничения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6" y="3977639"/>
            <a:ext cx="6995160" cy="658368"/>
          </a:xfrm>
          <a:prstGeom prst="roundRect">
            <a:avLst>
              <a:gd name="adj" fmla="val 10000"/>
            </a:avLst>
          </a:prstGeom>
          <a:solidFill>
            <a:srgbClr val="1A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105655"/>
            <a:ext cx="448056" cy="25603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75E0B5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087368"/>
            <a:ext cx="2212848" cy="30175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500" b="1" i="0">
                <a:solidFill>
                  <a:srgbClr val="F6F7FC"/>
                </a:solidFill>
                <a:latin typeface="Inter"/>
              </a:defRPr>
            </a:pPr>
            <a:r>
              <a:t>Робот и условия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4087368"/>
            <a:ext cx="3813048" cy="34747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200" b="0" i="0">
                <a:solidFill>
                  <a:srgbClr val="AEB5CE"/>
                </a:solidFill>
                <a:latin typeface="Inter"/>
              </a:defRPr>
            </a:pPr>
            <a:r>
              <a:t>Подтверждаем паспорт и стоимость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" y="4773168"/>
            <a:ext cx="6995160" cy="658368"/>
          </a:xfrm>
          <a:prstGeom prst="roundRect">
            <a:avLst>
              <a:gd name="adj" fmla="val 10000"/>
            </a:avLst>
          </a:prstGeom>
          <a:solidFill>
            <a:srgbClr val="1A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4901183"/>
            <a:ext cx="448056" cy="25603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75E0B5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882896"/>
            <a:ext cx="2212848" cy="30175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500" b="1" i="0">
                <a:solidFill>
                  <a:srgbClr val="F6F7FC"/>
                </a:solidFill>
                <a:latin typeface="Inter"/>
              </a:defRPr>
            </a:pPr>
            <a:r>
              <a:t>Экономика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4882896"/>
            <a:ext cx="3813048" cy="34747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200" b="0" i="0">
                <a:solidFill>
                  <a:srgbClr val="AEB5CE"/>
                </a:solidFill>
                <a:latin typeface="Inter"/>
              </a:defRPr>
            </a:pPr>
            <a:r>
              <a:t>Сверяем сценарий с фактическими данными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9327" y="1133856"/>
            <a:ext cx="2926080" cy="4352544"/>
          </a:xfrm>
          <a:prstGeom prst="roundRect">
            <a:avLst>
              <a:gd name="adj" fmla="val 8000"/>
            </a:avLst>
          </a:prstGeom>
          <a:solidFill>
            <a:srgbClr val="EB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robodovod_pitch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1499616"/>
            <a:ext cx="2395728" cy="23957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531352" y="4096512"/>
            <a:ext cx="2532888" cy="45720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ctr">
              <a:spcAft>
                <a:spcPts val="0"/>
              </a:spcAft>
              <a:defRPr sz="1700" b="1" i="0">
                <a:solidFill>
                  <a:srgbClr val="141A2E"/>
                </a:solidFill>
                <a:latin typeface="Inter"/>
              </a:defRPr>
            </a:pPr>
            <a:r>
              <a:t>robodovod.ru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4654296"/>
            <a:ext cx="2615184" cy="384048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353D58"/>
                </a:solidFill>
                <a:latin typeface="Inter"/>
              </a:defRPr>
            </a:pPr>
            <a:r>
              <a:t>Откройте и попробуйте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7" y="5998464"/>
            <a:ext cx="11064240" cy="27432"/>
          </a:xfrm>
          <a:prstGeom prst="rect">
            <a:avLst/>
          </a:prstGeom>
          <a:solidFill>
            <a:srgbClr val="59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6099048"/>
            <a:ext cx="10917936" cy="374904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1700" b="1" i="0">
                <a:solidFill>
                  <a:srgbClr val="AE79FA"/>
                </a:solidFill>
                <a:latin typeface="Inter"/>
              </a:defRPr>
            </a:pPr>
            <a:r>
              <a:t>Больше, чем роботы. Доводы для инвестиций.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10528"/>
            <a:ext cx="3657600" cy="155448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>
              <a:spcAft>
                <a:spcPts val="0"/>
              </a:spcAft>
              <a:defRPr sz="900" b="0" i="0">
                <a:solidFill>
                  <a:srgbClr val="AEB5CE"/>
                </a:solidFill>
                <a:latin typeface="Inter"/>
              </a:defRPr>
            </a:pPr>
            <a:r>
              <a:t>ZMNCRAFT   /   РОБОДОВОД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08792" y="6510528"/>
            <a:ext cx="786384" cy="155448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AEB5CE"/>
                </a:solidFill>
                <a:latin typeface="Inter"/>
              </a:defRPr>
            </a:pPr>
            <a: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</TotalTime>
  <Words>1409</Words>
  <Application>Microsoft Office PowerPoint</Application>
  <PresentationFormat>Широкоэкранный</PresentationFormat>
  <Paragraphs>188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Montserrat</vt:lpstr>
      <vt:lpstr>Wingdings</vt:lpstr>
      <vt:lpstr>Для Академия инноваторов 16_9</vt:lpstr>
      <vt:lpstr>Презентация PowerPoint</vt:lpstr>
      <vt:lpstr>КОМАНДА «ZMNCRAFT»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Владимир Королев</cp:lastModifiedBy>
  <cp:revision>99</cp:revision>
  <dcterms:created xsi:type="dcterms:W3CDTF">2023-05-15T07:36:23Z</dcterms:created>
  <dcterms:modified xsi:type="dcterms:W3CDTF">2026-09-29T06:23:12Z</dcterms:modified>
</cp:coreProperties>
</file>